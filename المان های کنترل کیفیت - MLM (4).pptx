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5" r:id="rId6"/>
    <p:sldId id="264" r:id="rId7"/>
    <p:sldId id="266" r:id="rId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1f65e10f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21f65e10f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21f65e10f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21f65e10f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834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40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34450" y="2197425"/>
            <a:ext cx="6275100" cy="8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المان های کنترل کیفیت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5" y="138975"/>
            <a:ext cx="1275150" cy="12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4471150"/>
            <a:ext cx="7942200" cy="672300"/>
          </a:xfrm>
          <a:prstGeom prst="round1Rect">
            <a:avLst>
              <a:gd name="adj" fmla="val 500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222222"/>
                </a:solidFill>
                <a:latin typeface="+mn-lt"/>
                <a:sym typeface="Calibri"/>
              </a:rPr>
              <a:t>MLM</a:t>
            </a:r>
            <a:endParaRPr sz="2400" dirty="0">
              <a:solidFill>
                <a:schemeClr val="dk2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fa-IR" dirty="0">
                <a:latin typeface="Calibri"/>
                <a:ea typeface="Calibri"/>
                <a:cs typeface="Calibri"/>
                <a:sym typeface="Calibri"/>
              </a:rPr>
              <a:t>بازاریابی </a:t>
            </a:r>
            <a:r>
              <a:rPr lang="fa-IR" dirty="0" err="1">
                <a:latin typeface="Calibri"/>
                <a:ea typeface="Calibri"/>
                <a:cs typeface="Calibri"/>
                <a:sym typeface="Calibri"/>
              </a:rPr>
              <a:t>شبکه‌ای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5020162" y="1807311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شروع مناسب مکالمه</a:t>
            </a:r>
            <a:endParaRPr sz="1200"/>
          </a:p>
        </p:txBody>
      </p:sp>
      <p:sp>
        <p:nvSpPr>
          <p:cNvPr id="63" name="Google Shape;63;p14"/>
          <p:cNvSpPr/>
          <p:nvPr/>
        </p:nvSpPr>
        <p:spPr>
          <a:xfrm>
            <a:off x="344521" y="1817211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دقت در وضعیت میکروفون، شروع به موقع مکالمه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448884" y="18172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</a:p>
        </p:txBody>
      </p:sp>
      <p:sp>
        <p:nvSpPr>
          <p:cNvPr id="65" name="Google Shape;65;p14"/>
          <p:cNvSpPr/>
          <p:nvPr/>
        </p:nvSpPr>
        <p:spPr>
          <a:xfrm>
            <a:off x="5020162" y="237020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خود و اعلام واحد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44521" y="238010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نام 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و واحدی که موظف به معرفی هستیم (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شرکا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بیمه بازار – کانون پیشخوان و...)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448884" y="23801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8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020350" y="2942727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احراز هویت نماینده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44708" y="2952627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بیان نام خانوادگی کاربر در ابتدای مکالمه یا پرسش از ایشان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449052" y="2952627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020362" y="352011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نیاز سنجی قبل از ارائه پیشنهاد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44721" y="353001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پیش از شروع مذاکره و بیان پیشنهاد، با پرسیدن سوالاتی از کاربر، متوجه درک ایشان از صنعت بیمه و سابقه فعالیت شان میشویم.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8449084" y="35300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3" name="Google Shape;137;p17">
            <a:extLst>
              <a:ext uri="{FF2B5EF4-FFF2-40B4-BE49-F238E27FC236}">
                <a16:creationId xmlns:a16="http://schemas.microsoft.com/office/drawing/2014/main" id="{34CE7B3B-8925-4BAD-B6F2-53AD3D886EC2}"/>
              </a:ext>
            </a:extLst>
          </p:cNvPr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38;p17">
            <a:extLst>
              <a:ext uri="{FF2B5EF4-FFF2-40B4-BE49-F238E27FC236}">
                <a16:creationId xmlns:a16="http://schemas.microsoft.com/office/drawing/2014/main" id="{D6E31978-FD32-4921-B391-17D6E5A1B7EF}"/>
              </a:ext>
            </a:extLst>
          </p:cNvPr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Google Shape;139;p17" title="images.png">
            <a:extLst>
              <a:ext uri="{FF2B5EF4-FFF2-40B4-BE49-F238E27FC236}">
                <a16:creationId xmlns:a16="http://schemas.microsoft.com/office/drawing/2014/main" id="{D9603018-1256-436A-B7CB-CE15D94567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E974ED1A-A71A-4EA9-A336-DF652D5C6051}"/>
              </a:ext>
            </a:extLst>
          </p:cNvPr>
          <p:cNvSpPr/>
          <p:nvPr/>
        </p:nvSpPr>
        <p:spPr>
          <a:xfrm>
            <a:off x="5020161" y="4068243"/>
            <a:ext cx="3299337" cy="489357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مدیریت </a:t>
            </a:r>
            <a:r>
              <a:rPr lang="fa-IR" sz="1200" b="1" dirty="0" err="1">
                <a:latin typeface="Calibri"/>
                <a:ea typeface="Calibri"/>
                <a:cs typeface="Calibri"/>
                <a:sym typeface="Calibri"/>
              </a:rPr>
              <a:t>حرفه‌ای</a:t>
            </a: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a-IR" sz="1200" b="1" dirty="0" err="1">
                <a:latin typeface="Calibri"/>
                <a:ea typeface="Calibri"/>
                <a:cs typeface="Calibri"/>
                <a:sym typeface="Calibri"/>
              </a:rPr>
              <a:t>نگرانی‌ها</a:t>
            </a: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 و اعتراضات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14">
            <a:extLst>
              <a:ext uri="{FF2B5EF4-FFF2-40B4-BE49-F238E27FC236}">
                <a16:creationId xmlns:a16="http://schemas.microsoft.com/office/drawing/2014/main" id="{8668AFD9-5EFF-4C79-895F-2940C3E3E4DE}"/>
              </a:ext>
            </a:extLst>
          </p:cNvPr>
          <p:cNvSpPr/>
          <p:nvPr/>
        </p:nvSpPr>
        <p:spPr>
          <a:xfrm>
            <a:off x="344521" y="4078143"/>
            <a:ext cx="4404103" cy="48186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دقت کامل به صحبت های کاربر، همدلی در گفتگو، یافتن راه حل برای مشکلات بیان شده، اطمینان دادن به کاربر برای پیگیری شما</a:t>
            </a:r>
            <a:endParaRPr sz="11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Google Shape;73;p14">
            <a:extLst>
              <a:ext uri="{FF2B5EF4-FFF2-40B4-BE49-F238E27FC236}">
                <a16:creationId xmlns:a16="http://schemas.microsoft.com/office/drawing/2014/main" id="{5FF3E434-94E4-4B29-8CC8-F63CF1224740}"/>
              </a:ext>
            </a:extLst>
          </p:cNvPr>
          <p:cNvSpPr/>
          <p:nvPr/>
        </p:nvSpPr>
        <p:spPr>
          <a:xfrm>
            <a:off x="8448884" y="4078143"/>
            <a:ext cx="399600" cy="45601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fa-IR" dirty="0">
                <a:latin typeface="Calibri"/>
                <a:ea typeface="Calibri"/>
                <a:cs typeface="Calibri"/>
                <a:sym typeface="Calibri"/>
              </a:rPr>
              <a:t>بازاریابی </a:t>
            </a:r>
            <a:r>
              <a:rPr lang="fa-IR" dirty="0" err="1">
                <a:latin typeface="Calibri"/>
                <a:ea typeface="Calibri"/>
                <a:cs typeface="Calibri"/>
                <a:sym typeface="Calibri"/>
              </a:rPr>
              <a:t>شبکه‌ای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889875" y="1839325"/>
            <a:ext cx="3440400" cy="392391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تعامل و مذاکره مؤثر</a:t>
            </a:r>
            <a:endParaRPr sz="1200" dirty="0"/>
          </a:p>
        </p:txBody>
      </p:sp>
      <p:sp>
        <p:nvSpPr>
          <p:cNvPr id="86" name="Google Shape;86;p15"/>
          <p:cNvSpPr/>
          <p:nvPr/>
        </p:nvSpPr>
        <p:spPr>
          <a:xfrm>
            <a:off x="618900" y="1832527"/>
            <a:ext cx="41368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 err="1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پرزنت</a:t>
            </a: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a-IR" sz="1100" dirty="0" err="1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پنل</a:t>
            </a: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یا جشنواره – شفافیت در توضیح مدل </a:t>
            </a:r>
            <a:r>
              <a:rPr lang="fa-IR" sz="1100" dirty="0" err="1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درامدی</a:t>
            </a: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- 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879275" y="2344902"/>
            <a:ext cx="3440400" cy="63508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ایجاد یا تثبیت راه ارتباطی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608300" y="2328203"/>
            <a:ext cx="4136800" cy="65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مشخص کردن یک </a:t>
            </a:r>
            <a:r>
              <a:rPr lang="fa-IR" sz="1100" dirty="0" err="1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پیامرسان</a:t>
            </a: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برای ارتباط با نماینده، مشخص کردن زمان پیگیری بعدی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8432650" y="2344103"/>
            <a:ext cx="388800" cy="6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96" name="Google Shape;96;p15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5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" name="Google Shape;98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432700" y="1839316"/>
            <a:ext cx="3996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27" name="Google Shape;85;p15">
            <a:extLst>
              <a:ext uri="{FF2B5EF4-FFF2-40B4-BE49-F238E27FC236}">
                <a16:creationId xmlns:a16="http://schemas.microsoft.com/office/drawing/2014/main" id="{EA662561-B652-42F2-B9E2-893A72C8FDCB}"/>
              </a:ext>
            </a:extLst>
          </p:cNvPr>
          <p:cNvSpPr/>
          <p:nvPr/>
        </p:nvSpPr>
        <p:spPr>
          <a:xfrm>
            <a:off x="4879275" y="3941774"/>
            <a:ext cx="3440400" cy="392391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 err="1">
                <a:latin typeface="Calibri"/>
                <a:ea typeface="Calibri"/>
                <a:cs typeface="Calibri"/>
                <a:sym typeface="Calibri"/>
              </a:rPr>
              <a:t>پایان‌بندی</a:t>
            </a: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 محترمانه تماس</a:t>
            </a:r>
            <a:endParaRPr sz="1200" dirty="0"/>
          </a:p>
        </p:txBody>
      </p:sp>
      <p:sp>
        <p:nvSpPr>
          <p:cNvPr id="28" name="Google Shape;86;p15">
            <a:extLst>
              <a:ext uri="{FF2B5EF4-FFF2-40B4-BE49-F238E27FC236}">
                <a16:creationId xmlns:a16="http://schemas.microsoft.com/office/drawing/2014/main" id="{650E2521-BF0A-46A4-BD59-242C71BB9778}"/>
              </a:ext>
            </a:extLst>
          </p:cNvPr>
          <p:cNvSpPr/>
          <p:nvPr/>
        </p:nvSpPr>
        <p:spPr>
          <a:xfrm>
            <a:off x="608300" y="3934976"/>
            <a:ext cx="41368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جمع بندی صحبت ها، عدم قطع کردن تماس روی کاربر بدون خداحافظی</a:t>
            </a:r>
          </a:p>
        </p:txBody>
      </p:sp>
      <p:sp>
        <p:nvSpPr>
          <p:cNvPr id="29" name="Google Shape;99;p15">
            <a:extLst>
              <a:ext uri="{FF2B5EF4-FFF2-40B4-BE49-F238E27FC236}">
                <a16:creationId xmlns:a16="http://schemas.microsoft.com/office/drawing/2014/main" id="{892B1650-4302-4736-B293-4FE56DC82FAA}"/>
              </a:ext>
            </a:extLst>
          </p:cNvPr>
          <p:cNvSpPr/>
          <p:nvPr/>
        </p:nvSpPr>
        <p:spPr>
          <a:xfrm>
            <a:off x="8422100" y="3941765"/>
            <a:ext cx="3996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30" name="Google Shape;71;p14">
            <a:extLst>
              <a:ext uri="{FF2B5EF4-FFF2-40B4-BE49-F238E27FC236}">
                <a16:creationId xmlns:a16="http://schemas.microsoft.com/office/drawing/2014/main" id="{2264DD40-2EAC-42A6-96FB-4B5CD1B9B9E5}"/>
              </a:ext>
            </a:extLst>
          </p:cNvPr>
          <p:cNvSpPr/>
          <p:nvPr/>
        </p:nvSpPr>
        <p:spPr>
          <a:xfrm>
            <a:off x="4868675" y="3082479"/>
            <a:ext cx="3440400" cy="74608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ادبیات </a:t>
            </a:r>
            <a:r>
              <a:rPr lang="fa-IR" sz="1200" b="1" dirty="0" err="1">
                <a:latin typeface="Calibri"/>
                <a:ea typeface="Calibri"/>
                <a:cs typeface="Calibri"/>
                <a:sym typeface="Calibri"/>
              </a:rPr>
              <a:t>حرفه‌ای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72;p14">
            <a:extLst>
              <a:ext uri="{FF2B5EF4-FFF2-40B4-BE49-F238E27FC236}">
                <a16:creationId xmlns:a16="http://schemas.microsoft.com/office/drawing/2014/main" id="{BBB9D8CE-DCCE-4489-8D20-19615882B4A7}"/>
              </a:ext>
            </a:extLst>
          </p:cNvPr>
          <p:cNvSpPr/>
          <p:nvPr/>
        </p:nvSpPr>
        <p:spPr>
          <a:xfrm>
            <a:off x="597675" y="3075681"/>
            <a:ext cx="4136800" cy="74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عدم استفاده از واژه شماره شخصی؛ پشتیبان؛ پیشنهاد همکاری</a:t>
            </a:r>
          </a:p>
        </p:txBody>
      </p:sp>
      <p:sp>
        <p:nvSpPr>
          <p:cNvPr id="32" name="Google Shape;73;p14">
            <a:extLst>
              <a:ext uri="{FF2B5EF4-FFF2-40B4-BE49-F238E27FC236}">
                <a16:creationId xmlns:a16="http://schemas.microsoft.com/office/drawing/2014/main" id="{5FEDCAED-7DA9-4CDA-85CF-8271C27ADC13}"/>
              </a:ext>
            </a:extLst>
          </p:cNvPr>
          <p:cNvSpPr/>
          <p:nvPr/>
        </p:nvSpPr>
        <p:spPr>
          <a:xfrm>
            <a:off x="8422050" y="3092379"/>
            <a:ext cx="399600" cy="73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پارامتر های بررسی سیستم </a:t>
            </a:r>
            <a:r>
              <a:rPr lang="fa-IR" sz="2400" dirty="0">
                <a:latin typeface="Calibri"/>
                <a:ea typeface="Calibri"/>
                <a:cs typeface="Calibri"/>
                <a:sym typeface="Calibri"/>
              </a:rPr>
              <a:t>بازاریابی </a:t>
            </a:r>
            <a:r>
              <a:rPr lang="fa-IR" sz="2400" dirty="0" err="1">
                <a:latin typeface="Calibri"/>
                <a:ea typeface="Calibri"/>
                <a:cs typeface="Calibri"/>
                <a:sym typeface="Calibri"/>
              </a:rPr>
              <a:t>شبکه‌ای</a:t>
            </a:r>
            <a:r>
              <a:rPr lang="fa-IR" sz="2400" dirty="0">
                <a:latin typeface="Calibri"/>
                <a:ea typeface="Calibri"/>
                <a:cs typeface="Calibri"/>
                <a:sym typeface="Calibri"/>
              </a:rPr>
              <a:t> در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CRM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034450" y="2351550"/>
            <a:ext cx="344040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درست اکشن تماس</a:t>
            </a:r>
            <a:endParaRPr sz="1200" dirty="0"/>
          </a:p>
        </p:txBody>
      </p:sp>
      <p:sp>
        <p:nvSpPr>
          <p:cNvPr id="157" name="Google Shape;157;p19"/>
          <p:cNvSpPr/>
          <p:nvPr/>
        </p:nvSpPr>
        <p:spPr>
          <a:xfrm>
            <a:off x="311700" y="235155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انتخاب درست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دراپ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دان و ثبت اکشن برای تمام تماس ها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است.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587850" y="2351550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56;p19">
            <a:extLst>
              <a:ext uri="{FF2B5EF4-FFF2-40B4-BE49-F238E27FC236}">
                <a16:creationId xmlns:a16="http://schemas.microsoft.com/office/drawing/2014/main" id="{E295A74D-C0A6-47D0-ABEF-A1B767549DC0}"/>
              </a:ext>
            </a:extLst>
          </p:cNvPr>
          <p:cNvSpPr/>
          <p:nvPr/>
        </p:nvSpPr>
        <p:spPr>
          <a:xfrm>
            <a:off x="5034450" y="3099501"/>
            <a:ext cx="344040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یادداشت کامل</a:t>
            </a:r>
            <a:endParaRPr sz="1200" dirty="0"/>
          </a:p>
        </p:txBody>
      </p:sp>
      <p:sp>
        <p:nvSpPr>
          <p:cNvPr id="10" name="Google Shape;157;p19">
            <a:extLst>
              <a:ext uri="{FF2B5EF4-FFF2-40B4-BE49-F238E27FC236}">
                <a16:creationId xmlns:a16="http://schemas.microsoft.com/office/drawing/2014/main" id="{99250B4C-5ED7-43C3-9E7E-04586C2A9F56}"/>
              </a:ext>
            </a:extLst>
          </p:cNvPr>
          <p:cNvSpPr/>
          <p:nvPr/>
        </p:nvSpPr>
        <p:spPr>
          <a:xfrm>
            <a:off x="311700" y="3099501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توضیحات کامل هر تماس باید در بخش اطلاعات تکمیلی ثبت شود، در غیر این صورت  نمره این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از دست خواهد رفت.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58;p19">
            <a:extLst>
              <a:ext uri="{FF2B5EF4-FFF2-40B4-BE49-F238E27FC236}">
                <a16:creationId xmlns:a16="http://schemas.microsoft.com/office/drawing/2014/main" id="{8D41529A-E5B4-4ADD-9DCE-55ACA65BE753}"/>
              </a:ext>
            </a:extLst>
          </p:cNvPr>
          <p:cNvSpPr/>
          <p:nvPr/>
        </p:nvSpPr>
        <p:spPr>
          <a:xfrm>
            <a:off x="8587850" y="3099501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Calibri"/>
                <a:ea typeface="Calibri"/>
                <a:cs typeface="Calibri"/>
                <a:sym typeface="Calibri"/>
              </a:rPr>
              <a:t>اساس نمره دهی به هر معیار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020000" y="1728458"/>
            <a:ext cx="85725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dirty="0">
              <a:cs typeface="B Badr" panose="00000400000000000000" pitchFamily="2" charset="-78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198100" y="1732358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به درستی در تماس رعایت شده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020188" y="2511058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198163" y="2530625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رعایت نشده یا فراموش شده است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022102" y="3244333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-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200076" y="326390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در ارزیابی بی اثر است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212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نحوه امتیاز دهی پایانی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034450" y="1732360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کیفی تماس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11575" y="1732351"/>
            <a:ext cx="4592400" cy="70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درصد نمره نهایی مربوط به این بخش بوده و ضریب هر معیار در این فایل درج شده که نمره هر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در آن ضرب میشود.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587850" y="1732351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034638" y="2514950"/>
            <a:ext cx="3440400" cy="6210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QA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11763" y="2530617"/>
            <a:ext cx="4592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درصد نمره نهایی را تشکیل میدهد. ثبت اطلاعات هر تماس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بوده و هر معیار دارای ضریب است که نمره در آن ضرب میشود.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588037" y="2530617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036550" y="3287525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</a:t>
            </a: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نهایی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13675" y="3287487"/>
            <a:ext cx="4592400" cy="8308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جمع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نمراتی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که در دو بخش قبلی به دست آمده نمره نهایی را تشکیل میدهد</a:t>
            </a:r>
          </a:p>
        </p:txBody>
      </p:sp>
      <p:sp>
        <p:nvSpPr>
          <p:cNvPr id="201" name="Google Shape;201;p21"/>
          <p:cNvSpPr/>
          <p:nvPr/>
        </p:nvSpPr>
        <p:spPr>
          <a:xfrm>
            <a:off x="8589950" y="3287525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640399" y="1010369"/>
            <a:ext cx="166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LINES </a:t>
            </a:r>
            <a:endParaRPr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844123" y="2022184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ar-SA" sz="1200" dirty="0">
                <a:cs typeface="Calibri" panose="020F0502020204030204" pitchFamily="34" charset="0"/>
              </a:rPr>
              <a:t>خندیدن به نشانه تمسخر کاربر حین تماس</a:t>
            </a:r>
            <a:endParaRPr sz="1200" dirty="0"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397523" y="2022175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844123" y="2833666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algn="ctr" rtl="1">
              <a:buClr>
                <a:schemeClr val="dk1"/>
              </a:buClr>
              <a:buSzPts val="1100"/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خوردن یا نوشیدن چیزی در زمان تماس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8750" lvl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397710" y="2820441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846223" y="3577349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قطع نکردن تماس بعد از 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اتمام مکالمه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399623" y="3577349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76C85-B702-48E5-AAC6-D27AB69542B1}"/>
              </a:ext>
            </a:extLst>
          </p:cNvPr>
          <p:cNvSpPr txBox="1"/>
          <p:nvPr/>
        </p:nvSpPr>
        <p:spPr>
          <a:xfrm>
            <a:off x="3039600" y="866024"/>
            <a:ext cx="56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مواردی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که رعایت نکردن آن منجر به صفر شدن نمره کل تماس خواهد شد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oogle Shape;195;p21">
            <a:extLst>
              <a:ext uri="{FF2B5EF4-FFF2-40B4-BE49-F238E27FC236}">
                <a16:creationId xmlns:a16="http://schemas.microsoft.com/office/drawing/2014/main" id="{710AB2DE-A393-4F3D-9D54-F325A84AE3EC}"/>
              </a:ext>
            </a:extLst>
          </p:cNvPr>
          <p:cNvSpPr/>
          <p:nvPr/>
        </p:nvSpPr>
        <p:spPr>
          <a:xfrm>
            <a:off x="4137286" y="2021450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4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7" name="Google Shape;198;p21">
            <a:extLst>
              <a:ext uri="{FF2B5EF4-FFF2-40B4-BE49-F238E27FC236}">
                <a16:creationId xmlns:a16="http://schemas.microsoft.com/office/drawing/2014/main" id="{7114EF15-2ED9-4728-91CB-15BB658352E2}"/>
              </a:ext>
            </a:extLst>
          </p:cNvPr>
          <p:cNvSpPr/>
          <p:nvPr/>
        </p:nvSpPr>
        <p:spPr>
          <a:xfrm>
            <a:off x="4137473" y="2819716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193;p21">
            <a:extLst>
              <a:ext uri="{FF2B5EF4-FFF2-40B4-BE49-F238E27FC236}">
                <a16:creationId xmlns:a16="http://schemas.microsoft.com/office/drawing/2014/main" id="{E90582B8-4B1D-4421-85E0-9D3C24EA400A}"/>
              </a:ext>
            </a:extLst>
          </p:cNvPr>
          <p:cNvSpPr/>
          <p:nvPr/>
        </p:nvSpPr>
        <p:spPr>
          <a:xfrm>
            <a:off x="583699" y="2022184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ارائه اطلاعات غیرضروری به کاربر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197;p21">
            <a:extLst>
              <a:ext uri="{FF2B5EF4-FFF2-40B4-BE49-F238E27FC236}">
                <a16:creationId xmlns:a16="http://schemas.microsoft.com/office/drawing/2014/main" id="{95A5F9D4-538A-48D4-B4FA-22476390C684}"/>
              </a:ext>
            </a:extLst>
          </p:cNvPr>
          <p:cNvSpPr/>
          <p:nvPr/>
        </p:nvSpPr>
        <p:spPr>
          <a:xfrm>
            <a:off x="583699" y="2833666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عدم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برقرار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ی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تماس دوم در صورتی که تماس اول حین مکالمه قطع شده باش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Google Shape;199;p21">
            <a:extLst>
              <a:ext uri="{FF2B5EF4-FFF2-40B4-BE49-F238E27FC236}">
                <a16:creationId xmlns:a16="http://schemas.microsoft.com/office/drawing/2014/main" id="{40C816D2-A7FE-4F2A-81DB-DC4ED1B62F10}"/>
              </a:ext>
            </a:extLst>
          </p:cNvPr>
          <p:cNvSpPr/>
          <p:nvPr/>
        </p:nvSpPr>
        <p:spPr>
          <a:xfrm>
            <a:off x="583699" y="3578281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ارائه اطلاعات اشتباه به کاربر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Google Shape;201;p21">
            <a:extLst>
              <a:ext uri="{FF2B5EF4-FFF2-40B4-BE49-F238E27FC236}">
                <a16:creationId xmlns:a16="http://schemas.microsoft.com/office/drawing/2014/main" id="{854FFEC4-0D41-4852-AA3D-CFA7331CBBB0}"/>
              </a:ext>
            </a:extLst>
          </p:cNvPr>
          <p:cNvSpPr/>
          <p:nvPr/>
        </p:nvSpPr>
        <p:spPr>
          <a:xfrm>
            <a:off x="4137099" y="3578281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9240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436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Arial</vt:lpstr>
      <vt:lpstr>Simple Light</vt:lpstr>
      <vt:lpstr>المان های کنترل کیفیت</vt:lpstr>
      <vt:lpstr>پارامتر های بررسی مکالمات بازاریابی شبکه‌ای</vt:lpstr>
      <vt:lpstr>پارامتر های بررسی مکالمات بازاریابی شبکه‌ای</vt:lpstr>
      <vt:lpstr>پارامتر های بررسی سیستم بازاریابی شبکه‌ای در CRM</vt:lpstr>
      <vt:lpstr>اساس نمره دهی به هر معیار</vt:lpstr>
      <vt:lpstr>نحوه امتیاز دهی پایانی</vt:lpstr>
      <vt:lpstr>RED LINES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المان های کنترل کیفیت</dc:title>
  <cp:lastModifiedBy>Haniye Tajik / Bimebazar</cp:lastModifiedBy>
  <cp:revision>16</cp:revision>
  <dcterms:modified xsi:type="dcterms:W3CDTF">2026-03-29T09:20:10Z</dcterms:modified>
</cp:coreProperties>
</file>