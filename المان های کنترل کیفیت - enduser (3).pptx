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5" r:id="rId6"/>
    <p:sldId id="264" r:id="rId7"/>
    <p:sldId id="266" r:id="rId8"/>
  </p:sldIdLst>
  <p:sldSz cx="9144000" cy="5143500" type="screen16x9"/>
  <p:notesSz cx="6858000" cy="9144000"/>
  <p:embeddedFontLst>
    <p:embeddedFont>
      <p:font typeface="B Badr" panose="00000400000000000000" pitchFamily="2" charset="-78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1f65e10f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1f65e10f_0_3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21f65e10f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21f65e10f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21f65e10f_0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21f65e10f_0_6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834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21f65e10f_0_7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21f65e10f_0_7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40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325202" y="2211825"/>
            <a:ext cx="6275100" cy="8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المان های کنترل کیفیت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3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5" y="138975"/>
            <a:ext cx="1275150" cy="12751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4471150"/>
            <a:ext cx="7942200" cy="672300"/>
          </a:xfrm>
          <a:prstGeom prst="round1Rect">
            <a:avLst>
              <a:gd name="adj" fmla="val 50000"/>
            </a:avLst>
          </a:prstGeom>
          <a:solidFill>
            <a:srgbClr val="F1C232"/>
          </a:solidFill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BNPL – END USER</a:t>
            </a:r>
            <a:endParaRPr sz="2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کارشناسان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وصول مطالبات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5020162" y="1807311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latin typeface="Calibri"/>
                <a:ea typeface="Calibri"/>
                <a:cs typeface="Calibri"/>
                <a:sym typeface="Calibri"/>
              </a:rPr>
              <a:t>شروع مناسب مکالمه</a:t>
            </a:r>
            <a:endParaRPr sz="1200" dirty="0"/>
          </a:p>
        </p:txBody>
      </p:sp>
      <p:sp>
        <p:nvSpPr>
          <p:cNvPr id="63" name="Google Shape;63;p14"/>
          <p:cNvSpPr/>
          <p:nvPr/>
        </p:nvSpPr>
        <p:spPr>
          <a:xfrm>
            <a:off x="344521" y="1817211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دقت در وضعیت میکروفون، شروع به موقع مکالمه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8448884" y="18172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7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5020162" y="237020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خود و اعلام سمت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44521" y="238010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Char char="●"/>
            </a:pP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معرفی نام 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و واحدی که موظف به معرفی هستیم (بیمه، سامانه کل بیمه و...)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8448884" y="23801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8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5020350" y="2942727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احراز هویت بیمه گذار/نماینده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44708" y="2952627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بیان نام خانوادگی کاربر در ابتدای مکالمه یا پرسش از ایشان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8449052" y="2952627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7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020362" y="3520110"/>
            <a:ext cx="3299337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اعلام اطلاعات </a:t>
            </a:r>
            <a:r>
              <a:rPr lang="fa-I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بیمه‌نامه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و میزان </a:t>
            </a:r>
            <a:r>
              <a:rPr lang="fa-I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معوق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44721" y="3530010"/>
            <a:ext cx="4404103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کارشناس موظف است اطلاعاتی از بیمه نامه را به کاربر اعلام و تعداد روزهای </a:t>
            </a:r>
            <a:r>
              <a:rPr lang="fa-IR" sz="1100" dirty="0" err="1">
                <a:latin typeface="Calibri"/>
                <a:ea typeface="Calibri"/>
                <a:cs typeface="Calibri"/>
                <a:sym typeface="Calibri"/>
              </a:rPr>
              <a:t>معوق</a:t>
            </a:r>
            <a:r>
              <a:rPr lang="fa-IR" sz="1100" dirty="0">
                <a:latin typeface="Calibri"/>
                <a:ea typeface="Calibri"/>
                <a:cs typeface="Calibri"/>
                <a:sym typeface="Calibri"/>
              </a:rPr>
              <a:t> را واضح کند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8449084" y="3530002"/>
            <a:ext cx="383216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3" name="Google Shape;137;p17">
            <a:extLst>
              <a:ext uri="{FF2B5EF4-FFF2-40B4-BE49-F238E27FC236}">
                <a16:creationId xmlns:a16="http://schemas.microsoft.com/office/drawing/2014/main" id="{34CE7B3B-8925-4BAD-B6F2-53AD3D886EC2}"/>
              </a:ext>
            </a:extLst>
          </p:cNvPr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38;p17">
            <a:extLst>
              <a:ext uri="{FF2B5EF4-FFF2-40B4-BE49-F238E27FC236}">
                <a16:creationId xmlns:a16="http://schemas.microsoft.com/office/drawing/2014/main" id="{D6E31978-FD32-4921-B391-17D6E5A1B7EF}"/>
              </a:ext>
            </a:extLst>
          </p:cNvPr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Google Shape;139;p17" title="images.png">
            <a:extLst>
              <a:ext uri="{FF2B5EF4-FFF2-40B4-BE49-F238E27FC236}">
                <a16:creationId xmlns:a16="http://schemas.microsoft.com/office/drawing/2014/main" id="{D9603018-1256-436A-B7CB-CE15D94567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پارامتر های بررسی مکالمات کارشناسان </a:t>
            </a:r>
            <a:r>
              <a:rPr lang="fa-IR" dirty="0">
                <a:latin typeface="Calibri"/>
                <a:ea typeface="Calibri"/>
                <a:cs typeface="Calibri"/>
                <a:sym typeface="Calibri"/>
              </a:rPr>
              <a:t>وصول مطالبات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995324" y="2760925"/>
            <a:ext cx="3440400" cy="392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لحن و ادبیات متناسب با نوع تماس</a:t>
            </a:r>
            <a:endParaRPr sz="1200" dirty="0"/>
          </a:p>
        </p:txBody>
      </p:sp>
      <p:sp>
        <p:nvSpPr>
          <p:cNvPr id="86" name="Google Shape;86;p15"/>
          <p:cNvSpPr/>
          <p:nvPr/>
        </p:nvSpPr>
        <p:spPr>
          <a:xfrm>
            <a:off x="272449" y="2770825"/>
            <a:ext cx="45924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پرهیز از تنش اضافی، کنترل خشم، استفاده از کلمات مناسب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995324" y="3257816"/>
            <a:ext cx="3440400" cy="5727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تسلط به موضوع </a:t>
            </a:r>
            <a:r>
              <a:rPr lang="fa-IR" sz="1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لید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272449" y="3257816"/>
            <a:ext cx="4592400" cy="57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بررسی اطلاعات لازم پیش از تماس و پاسخگویی به سوالات کاربر </a:t>
            </a:r>
            <a:endParaRPr sz="1100" dirty="0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8548724" y="3247941"/>
            <a:ext cx="399600" cy="57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8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4995499" y="3947441"/>
            <a:ext cx="3440400" cy="635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پایان بندی مکالمه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72624" y="3947440"/>
            <a:ext cx="4592400" cy="65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جمع بندی صحبت ها، عدم قطع کردن تماس روی کاربر بدون خداحافظی</a:t>
            </a:r>
            <a:endParaRPr sz="1100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8548899" y="3963466"/>
            <a:ext cx="388800" cy="63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96" name="Google Shape;96;p15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5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8" name="Google Shape;98;p15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/>
          <p:nvPr/>
        </p:nvSpPr>
        <p:spPr>
          <a:xfrm>
            <a:off x="8538149" y="2760916"/>
            <a:ext cx="399600" cy="392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71;p14">
            <a:extLst>
              <a:ext uri="{FF2B5EF4-FFF2-40B4-BE49-F238E27FC236}">
                <a16:creationId xmlns:a16="http://schemas.microsoft.com/office/drawing/2014/main" id="{4606F275-FD86-4280-A68A-41750449A18C}"/>
              </a:ext>
            </a:extLst>
          </p:cNvPr>
          <p:cNvSpPr/>
          <p:nvPr/>
        </p:nvSpPr>
        <p:spPr>
          <a:xfrm>
            <a:off x="4984724" y="1901630"/>
            <a:ext cx="3440400" cy="7461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fa-IR" sz="1200" b="1" dirty="0">
                <a:latin typeface="Calibri"/>
                <a:ea typeface="Calibri"/>
                <a:cs typeface="Calibri"/>
                <a:sym typeface="Calibri"/>
              </a:rPr>
              <a:t>راهنمایی درست برای نحوه پرداخت</a:t>
            </a:r>
            <a:endParaRPr sz="12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2;p14">
            <a:extLst>
              <a:ext uri="{FF2B5EF4-FFF2-40B4-BE49-F238E27FC236}">
                <a16:creationId xmlns:a16="http://schemas.microsoft.com/office/drawing/2014/main" id="{876F8C32-ED63-4DCD-8487-FF62A26F58E6}"/>
              </a:ext>
            </a:extLst>
          </p:cNvPr>
          <p:cNvSpPr/>
          <p:nvPr/>
        </p:nvSpPr>
        <p:spPr>
          <a:xfrm>
            <a:off x="261824" y="1911530"/>
            <a:ext cx="4592400" cy="746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در تماس های اولیه باید با کاربر درباره نحوه پرداخت صحبت شود، در صورت نیاز لینک برای ایشان ارسال یا شماره کارت بیمه بازار اعلام شود.</a:t>
            </a:r>
            <a:endParaRPr sz="11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0" name="Google Shape;73;p14">
            <a:extLst>
              <a:ext uri="{FF2B5EF4-FFF2-40B4-BE49-F238E27FC236}">
                <a16:creationId xmlns:a16="http://schemas.microsoft.com/office/drawing/2014/main" id="{B81511E0-DF59-4065-B7E8-49F2803817AC}"/>
              </a:ext>
            </a:extLst>
          </p:cNvPr>
          <p:cNvSpPr/>
          <p:nvPr/>
        </p:nvSpPr>
        <p:spPr>
          <a:xfrm>
            <a:off x="8538099" y="1911530"/>
            <a:ext cx="399600" cy="736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پارامتر های بررسی سیستم(CRM) کارشناسان </a:t>
            </a: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وصول مطالبات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034450" y="1732350"/>
            <a:ext cx="344040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درست اکشن تماس</a:t>
            </a:r>
            <a:endParaRPr sz="1200" dirty="0"/>
          </a:p>
        </p:txBody>
      </p:sp>
      <p:sp>
        <p:nvSpPr>
          <p:cNvPr id="157" name="Google Shape;157;p19"/>
          <p:cNvSpPr/>
          <p:nvPr/>
        </p:nvSpPr>
        <p:spPr>
          <a:xfrm>
            <a:off x="311700" y="173235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ثبت اکشن برای تمامی تماس ها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و انتخاب درست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دراپ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دان ملاک ارزیابی این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8587850" y="1732350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درج یادداشت کامل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توضیحات لازم هر تماس باید در بخش توضیحات (اطلاعات تکمیلی) ثبت شود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8588026" y="2530625"/>
            <a:ext cx="3888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10</a:t>
            </a: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2400" dirty="0">
                <a:latin typeface="Calibri"/>
                <a:ea typeface="Calibri"/>
                <a:cs typeface="Calibri"/>
                <a:sym typeface="Calibri"/>
              </a:rPr>
              <a:t>اساس نمره دهی به هر معیار</a:t>
            </a: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7020000" y="1728458"/>
            <a:ext cx="857250" cy="6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dirty="0">
              <a:cs typeface="B Badr" panose="00000400000000000000" pitchFamily="2" charset="-78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2198100" y="1732358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به درستی در تماس رعایت شده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020188" y="2511058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0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2198163" y="2530625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رعایت نشده یا فراموش شده است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7022102" y="3244333"/>
            <a:ext cx="857250" cy="62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-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2200076" y="3263900"/>
            <a:ext cx="4592400" cy="621000"/>
          </a:xfrm>
          <a:prstGeom prst="rect">
            <a:avLst/>
          </a:prstGeom>
          <a:solidFill>
            <a:srgbClr val="FFD966"/>
          </a:solidFill>
          <a:ln w="952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معیار در ارزیابی بی اثر است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9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0" name="Google Shape;170;p19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212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311700" y="85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alibri"/>
                <a:ea typeface="Calibri"/>
                <a:cs typeface="Calibri"/>
                <a:sym typeface="Calibri"/>
              </a:rPr>
              <a:t>نحوه امتیاز دهی پایانی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034450" y="1732360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کیفی تماس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311575" y="1732351"/>
            <a:ext cx="4592400" cy="706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 درصد نمره نهایی مربوط به این بخش بوده و ضریب هر معیار در این فایل درج شده که نمره هر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المان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در آن ضرب میشود.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587850" y="1732351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5034638" y="2514950"/>
            <a:ext cx="3440400" cy="6210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QA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11763" y="2530617"/>
            <a:ext cx="4592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 درصد نمره نهایی را تشکیل میدهد. ثبت اطلاعات هر تماس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الزامی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بوده و هر معیار دارای ضریب است که نمره در آن ضرب میشود.</a:t>
            </a:r>
            <a:endParaRPr sz="11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588037" y="2530617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5036550" y="3287525"/>
            <a:ext cx="3440400" cy="83087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نمره </a:t>
            </a: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نهایی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13675" y="3287487"/>
            <a:ext cx="4592400" cy="830875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جمع </a:t>
            </a:r>
            <a:r>
              <a:rPr lang="fa-IR" sz="1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نمراتی</a:t>
            </a:r>
            <a:r>
              <a:rPr lang="fa-IR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که در دو بخش قبلی به دست آمده نمره نهایی را تشکیل میدهد</a:t>
            </a:r>
          </a:p>
        </p:txBody>
      </p:sp>
      <p:sp>
        <p:nvSpPr>
          <p:cNvPr id="201" name="Google Shape;201;p21"/>
          <p:cNvSpPr/>
          <p:nvPr/>
        </p:nvSpPr>
        <p:spPr>
          <a:xfrm>
            <a:off x="8589950" y="3287525"/>
            <a:ext cx="244200" cy="8308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title"/>
          </p:nvPr>
        </p:nvSpPr>
        <p:spPr>
          <a:xfrm>
            <a:off x="640399" y="1010369"/>
            <a:ext cx="1663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 LINES </a:t>
            </a:r>
            <a:endParaRPr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844123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rtl="1"/>
            <a:r>
              <a:rPr lang="ar-SA" sz="1200" dirty="0">
                <a:cs typeface="Calibri" panose="020F0502020204030204" pitchFamily="34" charset="0"/>
              </a:rPr>
              <a:t>خندیدن به نشانه تمسخر کاربر حین تماس</a:t>
            </a:r>
            <a:endParaRPr sz="1200" dirty="0"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97523" y="2022175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1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4844123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58750" algn="ctr" rtl="1">
              <a:buClr>
                <a:schemeClr val="dk1"/>
              </a:buClr>
              <a:buSzPts val="1100"/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خوردن یا نوشیدن چیزی در زمان تماس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58750"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8397710" y="2820441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2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846223" y="3577349"/>
            <a:ext cx="3440400" cy="700127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قطع نکردن تماس بعد از 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اتمام مکالمه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8399623" y="3577349"/>
            <a:ext cx="244200" cy="7068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3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cxnSp>
        <p:nvCxnSpPr>
          <p:cNvPr id="202" name="Google Shape;202;p21"/>
          <p:cNvCxnSpPr/>
          <p:nvPr/>
        </p:nvCxnSpPr>
        <p:spPr>
          <a:xfrm>
            <a:off x="1975200" y="533150"/>
            <a:ext cx="67524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1"/>
          <p:cNvCxnSpPr/>
          <p:nvPr/>
        </p:nvCxnSpPr>
        <p:spPr>
          <a:xfrm rot="10800000" flipH="1">
            <a:off x="272450" y="544934"/>
            <a:ext cx="622500" cy="11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4" name="Google Shape;204;p21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815" y="138975"/>
            <a:ext cx="823600" cy="8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76C85-B702-48E5-AAC6-D27AB69542B1}"/>
              </a:ext>
            </a:extLst>
          </p:cNvPr>
          <p:cNvSpPr txBox="1"/>
          <p:nvPr/>
        </p:nvSpPr>
        <p:spPr>
          <a:xfrm>
            <a:off x="3039600" y="866024"/>
            <a:ext cx="568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مواردی</a:t>
            </a:r>
            <a:r>
              <a:rPr lang="fa-I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که رعایت نکردن آن منجر به صفر شدن نمره کل تماس خواهد شد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oogle Shape;195;p21">
            <a:extLst>
              <a:ext uri="{FF2B5EF4-FFF2-40B4-BE49-F238E27FC236}">
                <a16:creationId xmlns:a16="http://schemas.microsoft.com/office/drawing/2014/main" id="{710AB2DE-A393-4F3D-9D54-F325A84AE3EC}"/>
              </a:ext>
            </a:extLst>
          </p:cNvPr>
          <p:cNvSpPr/>
          <p:nvPr/>
        </p:nvSpPr>
        <p:spPr>
          <a:xfrm>
            <a:off x="4137286" y="2021450"/>
            <a:ext cx="244200" cy="70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4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7" name="Google Shape;198;p21">
            <a:extLst>
              <a:ext uri="{FF2B5EF4-FFF2-40B4-BE49-F238E27FC236}">
                <a16:creationId xmlns:a16="http://schemas.microsoft.com/office/drawing/2014/main" id="{7114EF15-2ED9-4728-91CB-15BB658352E2}"/>
              </a:ext>
            </a:extLst>
          </p:cNvPr>
          <p:cNvSpPr/>
          <p:nvPr/>
        </p:nvSpPr>
        <p:spPr>
          <a:xfrm>
            <a:off x="4137473" y="2819716"/>
            <a:ext cx="244200" cy="621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5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  <p:sp>
        <p:nvSpPr>
          <p:cNvPr id="18" name="Google Shape;193;p21">
            <a:extLst>
              <a:ext uri="{FF2B5EF4-FFF2-40B4-BE49-F238E27FC236}">
                <a16:creationId xmlns:a16="http://schemas.microsoft.com/office/drawing/2014/main" id="{E90582B8-4B1D-4421-85E0-9D3C24EA400A}"/>
              </a:ext>
            </a:extLst>
          </p:cNvPr>
          <p:cNvSpPr/>
          <p:nvPr/>
        </p:nvSpPr>
        <p:spPr>
          <a:xfrm>
            <a:off x="583699" y="2022184"/>
            <a:ext cx="3440400" cy="6888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غیرضروری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197;p21">
            <a:extLst>
              <a:ext uri="{FF2B5EF4-FFF2-40B4-BE49-F238E27FC236}">
                <a16:creationId xmlns:a16="http://schemas.microsoft.com/office/drawing/2014/main" id="{95A5F9D4-538A-48D4-B4FA-22476390C684}"/>
              </a:ext>
            </a:extLst>
          </p:cNvPr>
          <p:cNvSpPr/>
          <p:nvPr/>
        </p:nvSpPr>
        <p:spPr>
          <a:xfrm>
            <a:off x="583699" y="2833666"/>
            <a:ext cx="3440400" cy="621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عدم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برقرار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ی </a:t>
            </a:r>
            <a:r>
              <a:rPr lang="ar-SA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تماس دوم در صورتی که تماس اول حین مکالمه قطع شده باش</a:t>
            </a: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د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Google Shape;199;p21">
            <a:extLst>
              <a:ext uri="{FF2B5EF4-FFF2-40B4-BE49-F238E27FC236}">
                <a16:creationId xmlns:a16="http://schemas.microsoft.com/office/drawing/2014/main" id="{B85E1EDE-5CBA-70D4-5562-4C2B24219DDA}"/>
              </a:ext>
            </a:extLst>
          </p:cNvPr>
          <p:cNvSpPr/>
          <p:nvPr/>
        </p:nvSpPr>
        <p:spPr>
          <a:xfrm>
            <a:off x="583699" y="3575899"/>
            <a:ext cx="3440400" cy="700127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0" lvl="0" algn="ctr" rtl="1"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fa-I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ارائه اطلاعات اشتباه به کاربر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Google Shape;201;p21">
            <a:extLst>
              <a:ext uri="{FF2B5EF4-FFF2-40B4-BE49-F238E27FC236}">
                <a16:creationId xmlns:a16="http://schemas.microsoft.com/office/drawing/2014/main" id="{68FD8C9A-16B8-C382-CDDE-60C93D8876DC}"/>
              </a:ext>
            </a:extLst>
          </p:cNvPr>
          <p:cNvSpPr/>
          <p:nvPr/>
        </p:nvSpPr>
        <p:spPr>
          <a:xfrm>
            <a:off x="4137099" y="3575899"/>
            <a:ext cx="244200" cy="706801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a-IR" sz="1200" b="1" dirty="0">
                <a:solidFill>
                  <a:schemeClr val="dk1"/>
                </a:solidFill>
                <a:latin typeface="Calibri"/>
                <a:ea typeface="Calibri"/>
                <a:cs typeface="B Badr" panose="00000400000000000000" pitchFamily="2" charset="-78"/>
                <a:sym typeface="Calibri"/>
              </a:rPr>
              <a:t>6</a:t>
            </a:r>
            <a:endParaRPr sz="1200" b="1" dirty="0">
              <a:solidFill>
                <a:schemeClr val="dk1"/>
              </a:solidFill>
              <a:latin typeface="Calibri"/>
              <a:ea typeface="Calibri"/>
              <a:cs typeface="B Badr" panose="00000400000000000000" pitchFamily="2" charset="-78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92406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419</Words>
  <Application>Microsoft Office PowerPoint</Application>
  <PresentationFormat>On-screen Show (16:9)</PresentationFormat>
  <Paragraphs>66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 Badr</vt:lpstr>
      <vt:lpstr>Calibri</vt:lpstr>
      <vt:lpstr>Simple Light</vt:lpstr>
      <vt:lpstr>المان های کنترل کیفیت</vt:lpstr>
      <vt:lpstr>پارامتر های بررسی مکالمات کارشناسان وصول مطالبات</vt:lpstr>
      <vt:lpstr>پارامتر های بررسی مکالمات کارشناسان وصول مطالبات </vt:lpstr>
      <vt:lpstr>پارامتر های بررسی سیستم(CRM) کارشناسان وصول مطالبات</vt:lpstr>
      <vt:lpstr>اساس نمره دهی به هر معیار</vt:lpstr>
      <vt:lpstr>نحوه امتیاز دهی پایانی</vt:lpstr>
      <vt:lpstr>RED LINES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المان های کنترل کیفیت</dc:title>
  <cp:lastModifiedBy>Haniye Tajik / Bimebazar</cp:lastModifiedBy>
  <cp:revision>8</cp:revision>
  <dcterms:modified xsi:type="dcterms:W3CDTF">2026-06-01T12:29:22Z</dcterms:modified>
</cp:coreProperties>
</file>