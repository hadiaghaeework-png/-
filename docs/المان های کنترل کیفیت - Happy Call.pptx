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67" r:id="rId5"/>
    <p:sldId id="262" r:id="rId6"/>
    <p:sldId id="265" r:id="rId7"/>
    <p:sldId id="264" r:id="rId8"/>
    <p:sldId id="266" r:id="rId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21f65e10f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21f65e10f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21f65e10f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21f65e10f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21f65e10f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21f65e10f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3257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1f65e10f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21f65e10f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1f65e10f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21f65e10f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834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21f65e10f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21f65e10f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21f65e10f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21f65e10f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40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325202" y="2211825"/>
            <a:ext cx="6275100" cy="8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المان های کنترل کیفیت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5" y="138975"/>
            <a:ext cx="1275150" cy="127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4471150"/>
            <a:ext cx="7942200" cy="672300"/>
          </a:xfrm>
          <a:prstGeom prst="round1Rect">
            <a:avLst>
              <a:gd name="adj" fmla="val 500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BNPL </a:t>
            </a:r>
            <a:r>
              <a:rPr lang="en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– HAPPY CALL</a:t>
            </a:r>
            <a:endParaRPr sz="2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Happy Call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5020162" y="1807311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شروع مناسب مکالمه</a:t>
            </a:r>
            <a:endParaRPr sz="1200"/>
          </a:p>
        </p:txBody>
      </p:sp>
      <p:sp>
        <p:nvSpPr>
          <p:cNvPr id="63" name="Google Shape;63;p14"/>
          <p:cNvSpPr/>
          <p:nvPr/>
        </p:nvSpPr>
        <p:spPr>
          <a:xfrm>
            <a:off x="344521" y="1817211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دقت در وضعیت میکروفون، شروع به موقع مکالمه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448884" y="18172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</a:p>
        </p:txBody>
      </p:sp>
      <p:sp>
        <p:nvSpPr>
          <p:cNvPr id="65" name="Google Shape;65;p14"/>
          <p:cNvSpPr/>
          <p:nvPr/>
        </p:nvSpPr>
        <p:spPr>
          <a:xfrm>
            <a:off x="5020162" y="2370200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معرفی خود و اعلام سمت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44521" y="2380100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n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معرفی نام 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و واحدی که موظف به معرفی هستیم (بیمه مرکزی، سامانه کل بیمه و...)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8448884" y="23801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020350" y="2942727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احراز هویت بیمه گذار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44708" y="2952627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بیان نام خانوادگی کاربر در ابتدای مکالمه یا پرسش از ایشان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449052" y="2952627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020362" y="3520110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اعلام موعد پرداخت و مبلغ اقساط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44721" y="3530010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مبلغ کل بیمه نامه – اعلام تعداد اقساط و مبلغ هر قسط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8449084" y="35300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7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3" name="Google Shape;137;p17">
            <a:extLst>
              <a:ext uri="{FF2B5EF4-FFF2-40B4-BE49-F238E27FC236}">
                <a16:creationId xmlns:a16="http://schemas.microsoft.com/office/drawing/2014/main" id="{34CE7B3B-8925-4BAD-B6F2-53AD3D886EC2}"/>
              </a:ext>
            </a:extLst>
          </p:cNvPr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138;p17">
            <a:extLst>
              <a:ext uri="{FF2B5EF4-FFF2-40B4-BE49-F238E27FC236}">
                <a16:creationId xmlns:a16="http://schemas.microsoft.com/office/drawing/2014/main" id="{D6E31978-FD32-4921-B391-17D6E5A1B7EF}"/>
              </a:ext>
            </a:extLst>
          </p:cNvPr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Google Shape;139;p17" title="images.png">
            <a:extLst>
              <a:ext uri="{FF2B5EF4-FFF2-40B4-BE49-F238E27FC236}">
                <a16:creationId xmlns:a16="http://schemas.microsoft.com/office/drawing/2014/main" id="{D9603018-1256-436A-B7CB-CE15D94567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Happy Call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995324" y="2760925"/>
            <a:ext cx="3440400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تذکرات پرداخت از طریق نماینده</a:t>
            </a:r>
            <a:endParaRPr sz="1200" dirty="0"/>
          </a:p>
        </p:txBody>
      </p:sp>
      <p:sp>
        <p:nvSpPr>
          <p:cNvPr id="86" name="Google Shape;86;p15"/>
          <p:cNvSpPr/>
          <p:nvPr/>
        </p:nvSpPr>
        <p:spPr>
          <a:xfrm>
            <a:off x="272449" y="2770825"/>
            <a:ext cx="45924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پرداخت به نماینده به منزله تسویه نهایی با سامانه بیمه نیست و پیگیری پرداخت نماینده به عهده بیمه گذار است</a:t>
            </a:r>
            <a:endParaRPr sz="1100" dirty="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995324" y="3257816"/>
            <a:ext cx="3440400" cy="572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لحن و ادبیات محترمانه و تعاملی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272449" y="3257816"/>
            <a:ext cx="45924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کنترل خشم – لحن مناسب</a:t>
            </a:r>
            <a:endParaRPr sz="1100" dirty="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8548724" y="3247941"/>
            <a:ext cx="399600" cy="57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B Badr" panose="00000400000000000000" pitchFamily="2" charset="-78"/>
                <a:sym typeface="Calibri"/>
              </a:rPr>
              <a:t>7</a:t>
            </a:r>
            <a:endParaRPr sz="12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995499" y="3947441"/>
            <a:ext cx="3440400" cy="635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پایان بندی مکالمه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272624" y="3947440"/>
            <a:ext cx="4592400" cy="65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جمع بندی صحبت ها، عدم قطع کردن تماس روی کاربر بدون خداحافظی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8548899" y="3963466"/>
            <a:ext cx="388800" cy="6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96" name="Google Shape;96;p15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5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8" name="Google Shape;98;p1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8538149" y="2760916"/>
            <a:ext cx="3996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8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4606F275-FD86-4280-A68A-41750449A18C}"/>
              </a:ext>
            </a:extLst>
          </p:cNvPr>
          <p:cNvSpPr/>
          <p:nvPr/>
        </p:nvSpPr>
        <p:spPr>
          <a:xfrm>
            <a:off x="4984724" y="1901630"/>
            <a:ext cx="3440400" cy="746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توضیح صحیح </a:t>
            </a:r>
            <a:r>
              <a:rPr lang="fa-IR" sz="1200" b="1" dirty="0" err="1">
                <a:latin typeface="Calibri"/>
                <a:ea typeface="Calibri"/>
                <a:cs typeface="Calibri"/>
                <a:sym typeface="Calibri"/>
              </a:rPr>
              <a:t>روش‌های</a:t>
            </a: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 پرداخت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2;p14">
            <a:extLst>
              <a:ext uri="{FF2B5EF4-FFF2-40B4-BE49-F238E27FC236}">
                <a16:creationId xmlns:a16="http://schemas.microsoft.com/office/drawing/2014/main" id="{876F8C32-ED63-4DCD-8487-FF62A26F58E6}"/>
              </a:ext>
            </a:extLst>
          </p:cNvPr>
          <p:cNvSpPr/>
          <p:nvPr/>
        </p:nvSpPr>
        <p:spPr>
          <a:xfrm>
            <a:off x="261824" y="1911530"/>
            <a:ext cx="4592400" cy="74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شماره کارت و لینک مستقیم – مهلت پرداخت بدون جریمه 4 روزه</a:t>
            </a:r>
            <a:endParaRPr sz="11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" name="Google Shape;73;p14">
            <a:extLst>
              <a:ext uri="{FF2B5EF4-FFF2-40B4-BE49-F238E27FC236}">
                <a16:creationId xmlns:a16="http://schemas.microsoft.com/office/drawing/2014/main" id="{B81511E0-DF59-4065-B7E8-49F2803817AC}"/>
              </a:ext>
            </a:extLst>
          </p:cNvPr>
          <p:cNvSpPr/>
          <p:nvPr/>
        </p:nvSpPr>
        <p:spPr>
          <a:xfrm>
            <a:off x="8538099" y="1911530"/>
            <a:ext cx="399600" cy="73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Happy Call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995324" y="2760925"/>
            <a:ext cx="3440400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مدیریت مغایرت</a:t>
            </a:r>
            <a:endParaRPr sz="1200" dirty="0"/>
          </a:p>
        </p:txBody>
      </p:sp>
      <p:sp>
        <p:nvSpPr>
          <p:cNvPr id="86" name="Google Shape;86;p15"/>
          <p:cNvSpPr/>
          <p:nvPr/>
        </p:nvSpPr>
        <p:spPr>
          <a:xfrm>
            <a:off x="272449" y="2770825"/>
            <a:ext cx="45924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ارجاع درست موارد</a:t>
            </a:r>
            <a:endParaRPr sz="1100" dirty="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995324" y="3257816"/>
            <a:ext cx="3440400" cy="572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ایجاد فضای پرسش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272449" y="3257816"/>
            <a:ext cx="45924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بررسی اطلاعات لازم پیش از تماس و پاسخگویی به سوالات کاربر </a:t>
            </a:r>
            <a:endParaRPr sz="1100" dirty="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8548724" y="3247941"/>
            <a:ext cx="399600" cy="57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96" name="Google Shape;96;p15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5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8" name="Google Shape;98;p1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8538149" y="2760916"/>
            <a:ext cx="3996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7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4606F275-FD86-4280-A68A-41750449A18C}"/>
              </a:ext>
            </a:extLst>
          </p:cNvPr>
          <p:cNvSpPr/>
          <p:nvPr/>
        </p:nvSpPr>
        <p:spPr>
          <a:xfrm>
            <a:off x="4984724" y="1901630"/>
            <a:ext cx="3440400" cy="746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دریافت شماره تماس دوم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2;p14">
            <a:extLst>
              <a:ext uri="{FF2B5EF4-FFF2-40B4-BE49-F238E27FC236}">
                <a16:creationId xmlns:a16="http://schemas.microsoft.com/office/drawing/2014/main" id="{876F8C32-ED63-4DCD-8487-FF62A26F58E6}"/>
              </a:ext>
            </a:extLst>
          </p:cNvPr>
          <p:cNvSpPr/>
          <p:nvPr/>
        </p:nvSpPr>
        <p:spPr>
          <a:xfrm>
            <a:off x="261824" y="1911530"/>
            <a:ext cx="4592400" cy="74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ثبت شماره و نام شخص</a:t>
            </a:r>
          </a:p>
        </p:txBody>
      </p:sp>
      <p:sp>
        <p:nvSpPr>
          <p:cNvPr id="20" name="Google Shape;73;p14">
            <a:extLst>
              <a:ext uri="{FF2B5EF4-FFF2-40B4-BE49-F238E27FC236}">
                <a16:creationId xmlns:a16="http://schemas.microsoft.com/office/drawing/2014/main" id="{B81511E0-DF59-4065-B7E8-49F2803817AC}"/>
              </a:ext>
            </a:extLst>
          </p:cNvPr>
          <p:cNvSpPr/>
          <p:nvPr/>
        </p:nvSpPr>
        <p:spPr>
          <a:xfrm>
            <a:off x="8538099" y="1911530"/>
            <a:ext cx="399600" cy="73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6025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پارامتر های بررسی سیستم(CRM)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Happy Call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034450" y="1732350"/>
            <a:ext cx="344040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ثبت درست اکشن تماس</a:t>
            </a:r>
            <a:endParaRPr sz="1200" dirty="0"/>
          </a:p>
        </p:txBody>
      </p:sp>
      <p:sp>
        <p:nvSpPr>
          <p:cNvPr id="157" name="Google Shape;157;p19"/>
          <p:cNvSpPr/>
          <p:nvPr/>
        </p:nvSpPr>
        <p:spPr>
          <a:xfrm>
            <a:off x="311700" y="1732350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ثبت اکشن برای تمامی تماس ها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و انتخاب درست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دراپ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دان ملاک ارزیابی این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المان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است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587850" y="1732350"/>
            <a:ext cx="3888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034638" y="2514950"/>
            <a:ext cx="344040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درج یادداشت کامل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11763" y="2530617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توضیحات لازم هر تماس باید در بخش توضیحات (اطلاعات تکمیلی) ثبت شود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588026" y="2530625"/>
            <a:ext cx="3888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036552" y="3248225"/>
            <a:ext cx="344040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ثبت شماره تماس دوم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13676" y="3263892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زمان بعدی پیگیری برای ثبت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است.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8589950" y="3263900"/>
            <a:ext cx="3888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9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0" name="Google Shape;170;p1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62;p19">
            <a:extLst>
              <a:ext uri="{FF2B5EF4-FFF2-40B4-BE49-F238E27FC236}">
                <a16:creationId xmlns:a16="http://schemas.microsoft.com/office/drawing/2014/main" id="{B50B536F-CE29-45A0-AB87-A8D2DE0AC0C4}"/>
              </a:ext>
            </a:extLst>
          </p:cNvPr>
          <p:cNvSpPr/>
          <p:nvPr/>
        </p:nvSpPr>
        <p:spPr>
          <a:xfrm>
            <a:off x="5034450" y="3997167"/>
            <a:ext cx="344040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مشخص کردن نحوه پرداخت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3;p19">
            <a:extLst>
              <a:ext uri="{FF2B5EF4-FFF2-40B4-BE49-F238E27FC236}">
                <a16:creationId xmlns:a16="http://schemas.microsoft.com/office/drawing/2014/main" id="{28B6B382-2323-4699-BAA5-065F36258ACF}"/>
              </a:ext>
            </a:extLst>
          </p:cNvPr>
          <p:cNvSpPr/>
          <p:nvPr/>
        </p:nvSpPr>
        <p:spPr>
          <a:xfrm>
            <a:off x="311574" y="4012834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زمان بعدی پیگیری برای ثبت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است.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64;p19">
            <a:extLst>
              <a:ext uri="{FF2B5EF4-FFF2-40B4-BE49-F238E27FC236}">
                <a16:creationId xmlns:a16="http://schemas.microsoft.com/office/drawing/2014/main" id="{E248AC17-F40D-41F0-A3FA-647127B9883B}"/>
              </a:ext>
            </a:extLst>
          </p:cNvPr>
          <p:cNvSpPr/>
          <p:nvPr/>
        </p:nvSpPr>
        <p:spPr>
          <a:xfrm>
            <a:off x="8587848" y="4012842"/>
            <a:ext cx="3888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>
                <a:latin typeface="Calibri"/>
                <a:ea typeface="Calibri"/>
                <a:cs typeface="Calibri"/>
                <a:sym typeface="Calibri"/>
              </a:rPr>
              <a:t>اساس نمره دهی به هر معیار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020000" y="1728458"/>
            <a:ext cx="85725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dirty="0">
              <a:cs typeface="B Badr" panose="00000400000000000000" pitchFamily="2" charset="-78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198100" y="1732358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به درستی در تماس رعایت شده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020188" y="2511058"/>
            <a:ext cx="85725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198163" y="2530625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رعایت نشده یا فراموش شده است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022102" y="3244333"/>
            <a:ext cx="85725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-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200076" y="3263900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در ارزیابی بی اثر است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9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0" name="Google Shape;170;p1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212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نحوه امتیاز دهی پایانی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034450" y="1732360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کیفی تماس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11575" y="1732351"/>
            <a:ext cx="4592400" cy="70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 درصد نمره نهایی مربوط به این بخش بوده و ضریب هر معیار در این فایل درج شده که نمره هر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المان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در آن ضرب میشود.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587850" y="1732351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034638" y="2514950"/>
            <a:ext cx="3440400" cy="6210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QA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11763" y="2530617"/>
            <a:ext cx="4592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درصد نمره نهایی را تشکیل میدهد. ثبت اطلاعات هر تماس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بوده و هر معیار دارای ضریب است که نمره در آن ضرب میشود.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588037" y="2530617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2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036550" y="3287525"/>
            <a:ext cx="3440400" cy="8308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</a:t>
            </a: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نهایی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13675" y="3287487"/>
            <a:ext cx="4592400" cy="83087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جمع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نمراتی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که در دو بخش قبلی به دست آمده نمره نهایی را تشکیل میدهد</a:t>
            </a:r>
          </a:p>
        </p:txBody>
      </p:sp>
      <p:sp>
        <p:nvSpPr>
          <p:cNvPr id="201" name="Google Shape;201;p21"/>
          <p:cNvSpPr/>
          <p:nvPr/>
        </p:nvSpPr>
        <p:spPr>
          <a:xfrm>
            <a:off x="8589950" y="3287525"/>
            <a:ext cx="244200" cy="830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1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4" name="Google Shape;204;p2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640399" y="1010369"/>
            <a:ext cx="166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 LINES </a:t>
            </a:r>
            <a:endParaRPr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844123" y="2022184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ar-SA" sz="1200" dirty="0">
                <a:cs typeface="Calibri" panose="020F0502020204030204" pitchFamily="34" charset="0"/>
              </a:rPr>
              <a:t>خندیدن به نشانه تمسخر کاربر حین تماس</a:t>
            </a:r>
            <a:endParaRPr sz="1200" dirty="0"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397523" y="2022175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844123" y="2833666"/>
            <a:ext cx="3440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8750" algn="ctr" rtl="1">
              <a:buClr>
                <a:schemeClr val="dk1"/>
              </a:buClr>
              <a:buSzPts val="1100"/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خوردن یا نوشیدن چیزی در زمان تماس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8750" lvl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397710" y="2820441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2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846223" y="3577349"/>
            <a:ext cx="3440400" cy="8308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قطع نکردن تماس بعد از 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اتمام مکالمه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399623" y="3577349"/>
            <a:ext cx="244200" cy="830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1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4" name="Google Shape;204;p2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76C85-B702-48E5-AAC6-D27AB69542B1}"/>
              </a:ext>
            </a:extLst>
          </p:cNvPr>
          <p:cNvSpPr txBox="1"/>
          <p:nvPr/>
        </p:nvSpPr>
        <p:spPr>
          <a:xfrm>
            <a:off x="3039600" y="866024"/>
            <a:ext cx="56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مواردی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که رعایت نکردن آن منجر به صفر شدن نمره کل تماس خواهد شد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Google Shape;195;p21">
            <a:extLst>
              <a:ext uri="{FF2B5EF4-FFF2-40B4-BE49-F238E27FC236}">
                <a16:creationId xmlns:a16="http://schemas.microsoft.com/office/drawing/2014/main" id="{710AB2DE-A393-4F3D-9D54-F325A84AE3EC}"/>
              </a:ext>
            </a:extLst>
          </p:cNvPr>
          <p:cNvSpPr/>
          <p:nvPr/>
        </p:nvSpPr>
        <p:spPr>
          <a:xfrm>
            <a:off x="4137286" y="2468583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4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7" name="Google Shape;198;p21">
            <a:extLst>
              <a:ext uri="{FF2B5EF4-FFF2-40B4-BE49-F238E27FC236}">
                <a16:creationId xmlns:a16="http://schemas.microsoft.com/office/drawing/2014/main" id="{7114EF15-2ED9-4728-91CB-15BB658352E2}"/>
              </a:ext>
            </a:extLst>
          </p:cNvPr>
          <p:cNvSpPr/>
          <p:nvPr/>
        </p:nvSpPr>
        <p:spPr>
          <a:xfrm>
            <a:off x="4137473" y="3266849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8" name="Google Shape;193;p21">
            <a:extLst>
              <a:ext uri="{FF2B5EF4-FFF2-40B4-BE49-F238E27FC236}">
                <a16:creationId xmlns:a16="http://schemas.microsoft.com/office/drawing/2014/main" id="{E90582B8-4B1D-4421-85E0-9D3C24EA400A}"/>
              </a:ext>
            </a:extLst>
          </p:cNvPr>
          <p:cNvSpPr/>
          <p:nvPr/>
        </p:nvSpPr>
        <p:spPr>
          <a:xfrm>
            <a:off x="583699" y="2469317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ارائه اطلاعات غیرضروری به کاربر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197;p21">
            <a:extLst>
              <a:ext uri="{FF2B5EF4-FFF2-40B4-BE49-F238E27FC236}">
                <a16:creationId xmlns:a16="http://schemas.microsoft.com/office/drawing/2014/main" id="{95A5F9D4-538A-48D4-B4FA-22476390C684}"/>
              </a:ext>
            </a:extLst>
          </p:cNvPr>
          <p:cNvSpPr/>
          <p:nvPr/>
        </p:nvSpPr>
        <p:spPr>
          <a:xfrm>
            <a:off x="583699" y="3280799"/>
            <a:ext cx="3440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عدم </a:t>
            </a: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برقرار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ی </a:t>
            </a: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تماس دوم در صورتی که تماس اول حین مکالمه قطع شده باش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2406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451</Words>
  <Application>Microsoft Office PowerPoint</Application>
  <PresentationFormat>On-screen Show (16:9)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Arial</vt:lpstr>
      <vt:lpstr>Simple Light</vt:lpstr>
      <vt:lpstr>المان های کنترل کیفیت</vt:lpstr>
      <vt:lpstr>پارامتر های بررسی مکالمات Happy Call</vt:lpstr>
      <vt:lpstr>پارامتر های بررسی مکالمات Happy Call </vt:lpstr>
      <vt:lpstr>پارامتر های بررسی مکالمات Happy Call </vt:lpstr>
      <vt:lpstr>پارامتر های بررسی سیستم(CRM) Happy Call</vt:lpstr>
      <vt:lpstr>اساس نمره دهی به هر معیار</vt:lpstr>
      <vt:lpstr>نحوه امتیاز دهی پایانی</vt:lpstr>
      <vt:lpstr>RED LINES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المان های کنترل کیفیت</dc:title>
  <cp:lastModifiedBy>Haniye Tajik / Bimebazar</cp:lastModifiedBy>
  <cp:revision>9</cp:revision>
  <dcterms:modified xsi:type="dcterms:W3CDTF">2026-01-30T04:21:27Z</dcterms:modified>
</cp:coreProperties>
</file>